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Class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Fraudulent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17014</c:v>
                </c:pt>
                <c:pt idx="1">
                  <c:v>866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Precision / Recall / F1 by Model (TF-IDF features)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Naive
Bayes</c:v>
                  </c:pt>
                  <c:pt idx="2">
                    <c:v>Random
Forest</c:v>
                  </c:pt>
                  <c:pt idx="3">
                    <c:v>Linear
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0.6301</c:v>
                </c:pt>
                <c:pt idx="1">
                  <c:v>0.8824</c:v>
                </c:pt>
                <c:pt idx="2">
                  <c:v>1</c:v>
                </c:pt>
                <c:pt idx="3">
                  <c:v>0.7838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Naive
Bayes</c:v>
                  </c:pt>
                  <c:pt idx="2">
                    <c:v>Random
Forest</c:v>
                  </c:pt>
                  <c:pt idx="3">
                    <c:v>Linear
SVM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0.896</c:v>
                </c:pt>
                <c:pt idx="1">
                  <c:v>0.4335</c:v>
                </c:pt>
                <c:pt idx="2">
                  <c:v>0.5491</c:v>
                </c:pt>
                <c:pt idx="3">
                  <c:v>0.8382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Naive
Bayes</c:v>
                  </c:pt>
                  <c:pt idx="2">
                    <c:v>Random
Forest</c:v>
                  </c:pt>
                  <c:pt idx="3">
                    <c:v>Linear
SVM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0.7399</c:v>
                </c:pt>
                <c:pt idx="1">
                  <c:v>0.5814</c:v>
                </c:pt>
                <c:pt idx="2">
                  <c:v>0.709</c:v>
                </c:pt>
                <c:pt idx="3">
                  <c:v>0.8101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F1 Score: TF-IDF vs. CountVectorizer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(F1)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Naive Bayes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0.7399</c:v>
                </c:pt>
                <c:pt idx="1">
                  <c:v>0.5814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CountVectorizer (F1)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Naive Bayes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0.7913</c:v>
                </c:pt>
                <c:pt idx="1">
                  <c:v>0.4794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JOB POSTING DETECTION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for spotting fraudulent job listings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|  Dataset: EMSCAD (Employment Scam Aegean Dataset)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49840" y="822960"/>
            <a:ext cx="1463040" cy="1463040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7" name="Shape 5"/>
          <p:cNvSpPr/>
          <p:nvPr/>
        </p:nvSpPr>
        <p:spPr>
          <a:xfrm>
            <a:off x="10744200" y="1417320"/>
            <a:ext cx="502920" cy="502920"/>
          </a:xfrm>
          <a:prstGeom prst="ellipse">
            <a:avLst/>
          </a:prstGeom>
          <a:solidFill>
            <a:srgbClr val="ED7D3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postings are used to harvest personal data, extract upfront fees, and commit identity fraud — and manual screening doesn't scale.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5786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new postings hit job boards daily — too many for human review alone.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493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lose money, time, and personal data to convincing fake listings.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Subtlety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4074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scams borrow the exact language of real hiring posts.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4389120" cy="4206240"/>
          </a:xfrm>
          <a:prstGeom prst="roundRect">
            <a:avLst>
              <a:gd name="adj" fmla="val 2174"/>
            </a:avLst>
          </a:prstGeom>
          <a:solidFill>
            <a:srgbClr val="F5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classifier that reads a job posting's text and metadata, and flags it as legitimate or fraudulent — automatically, and explainably.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657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accuracy — a full pipeline: EDA → preprocessing → feature engineering → multi-model comparison → interpretation → a working prediction system.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EMSCAD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17,880 real job postings (2012–2014) · University of the Aegean, via Kaggle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17,880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postings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(4.8%)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text + metadata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used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776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title, company_profile, description, requirements, benefits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employment_type, required_experience, industry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has_company_logo, has_questions, telecommuting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863840" y="1371600"/>
          <a:ext cx="3749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5F6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company logo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— vs. just 2.0% when a logo is present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9976" y="13716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5F6FA"/>
          </a:solidFill>
          <a:ln/>
        </p:spPr>
      </p:sp>
      <p:sp>
        <p:nvSpPr>
          <p:cNvPr id="9" name="Shape 7"/>
          <p:cNvSpPr/>
          <p:nvPr/>
        </p:nvSpPr>
        <p:spPr>
          <a:xfrm>
            <a:off x="4654296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4296" y="2331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 chars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company profile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for fraud postings — vs. 641 for legitimate 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85632" y="2331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Work-from-home roles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— nearly double the 4.7% for on-site roles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fraud leaves fingerprints in both the text and the structured metadata — both are worth modeling.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945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1945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9384" y="3227832"/>
            <a:ext cx="283464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2A3A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3113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Vectorize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41064" y="3227832"/>
            <a:ext cx="283464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424281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4281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52744" y="3227832"/>
            <a:ext cx="283464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449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2A3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5449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4424" y="3227832"/>
            <a:ext cx="283464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76104" y="3227832"/>
            <a:ext cx="283464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7785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2A3A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7785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evaluated on multiple metrics — not just accuracy — given the dataset's 95/5 class imbalance.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874520"/>
            <a:ext cx="3474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perfect precision, but misses ~45% of real fraud (low recall).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high precision but weakest recall — too many scams slip through.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SVM: best-balanced F1 (0.81) among the four base models.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real fraud costs job-seekers more than a false alarm — recall matters.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Preprocessing Choice Matter?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17804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isn't neutral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178040" y="18745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 helps Logistic Regression (+0.05 F1) with clearer raw-frequency signals.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hurts Naive Bayes (−0.10 F1) — without TF-IDF's down-weighting, common words overwhelm the model.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the 'best' vectorizer depends on the model's assumptions, not a fixed rule.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78040" y="416052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5236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winner: Logistic Regression, C = 10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4709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0.7399 → 0.8043   |   ROC-AUC 0.9837 → 0.9861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(GridSearchCV, 3-fold CV, optimizing F1)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Model Actually Look At?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pushing a prediction toward each class (Logistic Regression coefficients)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DEE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FRAUDULENT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package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8ED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LEGITIMATE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688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predict_job_posting(title, company_profile, description, requirements, benefits) → label + probability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0FB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“Senior Data Analyst”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consultancy, detailed requirements &amp; benefits, real company profile.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LEGITIMATE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probability: 0.0014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DEEE3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“Easy Data Entry — Work From Home”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“Earn $500/day!”, no company profile, vague requirements, urgency language.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749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FRAUDULENT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probability: 0.9960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Takeaway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~4.8% of postings are fraud — rare, unseen patterns can still slip through.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2012–2014 language — scam wording evolves and needs retraining.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signals — no company/domain verification is performed.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flag has a cost too — best used with human review, not as sole gatekeeper.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0" y="13716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score, tuned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interpretable baseline — one layer of a larger trust &amp; safety system.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2026-09-01T16:29:24Z</dcterms:created>
  <dcterms:modified xsi:type="dcterms:W3CDTF">2026-09-01T16:29:24Z</dcterms:modified>
</cp:coreProperties>
</file>